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9c013c0dc4504" /><Relationship Type="http://schemas.openxmlformats.org/officeDocument/2006/relationships/extended-properties" Target="/docProps/app.xml" Id="Rb6d32965e9e94999" /><Relationship Type="http://schemas.openxmlformats.org/officeDocument/2006/relationships/officeDocument" Target="/ppt/presentation.xml" Id="R7c2cd5af8a2849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5d985f6bb4437"/>
  </p:sldMasterIdLst>
  <p:notesMasterIdLst>
    <p:notesMasterId xmlns:r="http://schemas.openxmlformats.org/officeDocument/2006/relationships" r:id="Rfe989c034fc54d49"/>
  </p:notesMasterIdLst>
  <p:sldIdLst>
    <p:sldId xmlns:r="http://schemas.openxmlformats.org/officeDocument/2006/relationships" id="256" r:id="R9e3b8ed5ecc34032"/>
    <p:sldId xmlns:r="http://schemas.openxmlformats.org/officeDocument/2006/relationships" id="257" r:id="Rf7689c8e909144d9"/>
    <p:sldId xmlns:r="http://schemas.openxmlformats.org/officeDocument/2006/relationships" id="258" r:id="Rdeb3daea80e040a5"/>
    <p:sldId xmlns:r="http://schemas.openxmlformats.org/officeDocument/2006/relationships" id="259" r:id="R59648a04909e48b8"/>
    <p:sldId xmlns:r="http://schemas.openxmlformats.org/officeDocument/2006/relationships" id="260" r:id="Rd7d283b460d0494e"/>
    <p:sldId xmlns:r="http://schemas.openxmlformats.org/officeDocument/2006/relationships" id="261" r:id="R3ecef4b5327845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54ad8ba694feb" /><Relationship Type="http://schemas.openxmlformats.org/officeDocument/2006/relationships/slideMaster" Target="/ppt/slideMasters/slideMaster1.xml" Id="R7785d985f6bb4437" /><Relationship Type="http://schemas.openxmlformats.org/officeDocument/2006/relationships/notesMaster" Target="/ppt/notesMasters/notesMaster1.xml" Id="Rfe989c034fc54d49" /><Relationship Type="http://schemas.openxmlformats.org/officeDocument/2006/relationships/presProps" Target="/ppt/presProps.xml" Id="Rf466a203e2b44720" /><Relationship Type="http://schemas.openxmlformats.org/officeDocument/2006/relationships/tableStyles" Target="/ppt/tableStyles.xml" Id="R820f2dd42bf64835" /><Relationship Type="http://schemas.openxmlformats.org/officeDocument/2006/relationships/slide" Target="/ppt/slides/slide1.xml" Id="R9e3b8ed5ecc34032" /><Relationship Type="http://schemas.openxmlformats.org/officeDocument/2006/relationships/slide" Target="/ppt/slides/slide2.xml" Id="Rf7689c8e909144d9" /><Relationship Type="http://schemas.openxmlformats.org/officeDocument/2006/relationships/slide" Target="/ppt/slides/slide3.xml" Id="Rdeb3daea80e040a5" /><Relationship Type="http://schemas.openxmlformats.org/officeDocument/2006/relationships/slide" Target="/ppt/slides/slide4.xml" Id="R59648a04909e48b8" /><Relationship Type="http://schemas.openxmlformats.org/officeDocument/2006/relationships/slide" Target="/ppt/slides/slide5.xml" Id="Rd7d283b460d0494e" /><Relationship Type="http://schemas.openxmlformats.org/officeDocument/2006/relationships/slide" Target="/ppt/slides/slide6.xml" Id="R3ecef4b5327845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7230ac1d4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3c0186c5f54af8" /><Relationship Type="http://schemas.openxmlformats.org/officeDocument/2006/relationships/notesMaster" Target="/ppt/notesMasters/notesMaster1.xml" Id="Rab898025eb02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cfb49b246a449a" /><Relationship Type="http://schemas.openxmlformats.org/officeDocument/2006/relationships/notesMaster" Target="/ppt/notesMasters/notesMaster1.xml" Id="R4e9572926b18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3098cfc9f4ea0" /><Relationship Type="http://schemas.openxmlformats.org/officeDocument/2006/relationships/notesMaster" Target="/ppt/notesMasters/notesMaster1.xml" Id="R74138ad851a8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01281727c4ec3" /><Relationship Type="http://schemas.openxmlformats.org/officeDocument/2006/relationships/notesMaster" Target="/ppt/notesMasters/notesMaster1.xml" Id="Rafed1573f6e3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7d2ebbffb048cf" /><Relationship Type="http://schemas.openxmlformats.org/officeDocument/2006/relationships/notesMaster" Target="/ppt/notesMasters/notesMaster1.xml" Id="Reefb555f78244e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91ce464cc7433a" /><Relationship Type="http://schemas.openxmlformats.org/officeDocument/2006/relationships/notesMaster" Target="/ppt/notesMasters/notesMaster1.xml" Id="Rc29b71960b1a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D:/GITHUB/STRATEGY/supply_chain_network_optimization/docs/RECRUITER_SUMMARY.md</a:t>
            </a:r>
          </a:p>
          <a:p xmlns:a="http://schemas.openxmlformats.org/drawingml/2006/main">
            <a:r>
              <a:t>- D:/GITHUB/STRATEGY/supply_chain_network_optimization/docs/REAL_DATA_VALIDATION.md</a:t>
            </a:r>
          </a:p>
          <a:p xmlns:a="http://schemas.openxmlformats.org/drawingml/2006/main">
            <a:r>
              <a:t>- D:/GITHUB/STRATEGY/supply_chain_network_optimization/docs/assets/network_map.png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D:/GITHUB/STRATEGY/supply_chain_network_optimization/docs/MODEL_ASSUMPTIONS.md</a:t>
            </a:r>
          </a:p>
          <a:p xmlns:a="http://schemas.openxmlformats.org/drawingml/2006/main">
            <a:r>
              <a:t>- D:/GITHUB/STRATEGY/supply_chain_network_optimization/README.md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D:/GITHUB/STRATEGY/supply_chain_network_optimization/docs/RECRUITER_SUMMARY.md</a:t>
            </a:r>
          </a:p>
          <a:p xmlns:a="http://schemas.openxmlformats.org/drawingml/2006/main">
            <a:r>
              <a:t>- D:/GITHUB/STRATEGY/supply_chain_network_optimization/results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D:/GITHUB/STRATEGY/supply_chain_network_optimization/docs/REAL_DATA_VALIDATION.md</a:t>
            </a:r>
          </a:p>
          <a:p xmlns:a="http://schemas.openxmlformats.org/drawingml/2006/main">
            <a:r>
              <a:t>- D:/GITHUB/STRATEGY/supply_chain_network_optimization/docs/assets/sensitivity_tornado.png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D:/GITHUB/STRATEGY/supply_chain_network_optimization/docs/ATS_SCREENING_PACK.md</a:t>
            </a:r>
          </a:p>
          <a:p xmlns:a="http://schemas.openxmlformats.org/drawingml/2006/main">
            <a:r>
              <a:t>- D:/GITHUB/STRATEGY/supply_chain_network_optimization/docs/rag_eval_questions.csv</a:t>
            </a:r>
          </a:p>
          <a:p xmlns:a="http://schemas.openxmlformats.org/drawingml/2006/main">
            <a:r>
              <a:t>- D:/GITHUB/STRATEGY/supply_chain_network_optimization/docs/assets/service_cost_tradeoff.png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D:/GITHUB/STRATEGY/supply_chain_network_optimization/docs/RECRUITER_SUMMARY.md</a:t>
            </a:r>
          </a:p>
          <a:p xmlns:a="http://schemas.openxmlformats.org/drawingml/2006/main">
            <a:r>
              <a:t>- D:/GITHUB/STRATEGY/supply_chain_network_optimization/docs/SUPPLIER_SLA_POLICY.md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c1cc7f86d49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b9512fe544adb" /><Relationship Type="http://schemas.openxmlformats.org/officeDocument/2006/relationships/slideLayout" Target="/ppt/slideLayouts/slideLayout1.xml" Id="Re030e018cdd6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0e018cdd6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489151fcd4996" /><Relationship Type="http://schemas.openxmlformats.org/officeDocument/2006/relationships/image" Target="/ppt/media/image.png" Id="R56e54d764bb244f7" /><Relationship Type="http://schemas.openxmlformats.org/officeDocument/2006/relationships/notesSlide" Target="/ppt/notesSlides/notesSlide1.xml" Id="R234e0315a2ff41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92a58e9a74daa" /><Relationship Type="http://schemas.openxmlformats.org/officeDocument/2006/relationships/notesSlide" Target="/ppt/notesSlides/notesSlide2.xml" Id="R7c6a37019c354c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c96f2e3d74ab1" /><Relationship Type="http://schemas.openxmlformats.org/officeDocument/2006/relationships/chart" Target="/ppt/slides/charts/chart1.xml" Id="Ref81a44c0cce4c91" /><Relationship Type="http://schemas.openxmlformats.org/officeDocument/2006/relationships/notesSlide" Target="/ppt/notesSlides/notesSlide3.xml" Id="R3df29a3681b7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03609208f408e" /><Relationship Type="http://schemas.openxmlformats.org/officeDocument/2006/relationships/image" Target="/ppt/media/image2.png" Id="Rba23f57171544885" /><Relationship Type="http://schemas.openxmlformats.org/officeDocument/2006/relationships/notesSlide" Target="/ppt/notesSlides/notesSlide4.xml" Id="R035786de8f1149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2c5b508c1466a" /><Relationship Type="http://schemas.openxmlformats.org/officeDocument/2006/relationships/image" Target="/ppt/media/image3.png" Id="Rc1d0cd9b24ef43db" /><Relationship Type="http://schemas.openxmlformats.org/officeDocument/2006/relationships/notesSlide" Target="/ppt/notesSlides/notesSlide5.xml" Id="R0c0ec0dca750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93ff52fe74491" /><Relationship Type="http://schemas.openxmlformats.org/officeDocument/2006/relationships/notesSlide" Target="/ppt/notesSlides/notesSlide6.xml" Id="R4afd2b9648cf421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Modeled cost index</c:v>
          </c:tx>
          <c:spPr>
            <a:solidFill xmlns:a="http://schemas.openxmlformats.org/drawingml/2006/main">
              <a:srgbClr val="147D92"/>
            </a:solidFill>
          </c:spPr>
          <c:cat>
            <c:strLit>
              <c:ptCount val="4"/>
              <c:pt idx="0">
                <c:v>Greedy</c:v>
              </c:pt>
              <c:pt idx="1">
                <c:v>Open all</c:v>
              </c:pt>
              <c:pt idx="2">
                <c:v>K-means</c:v>
              </c:pt>
              <c:pt idx="3">
                <c:v>Optimized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98</c:v>
              </c:pt>
              <c:pt idx="2">
                <c:v>92.7</c:v>
              </c:pt>
              <c:pt idx="3">
                <c:v>79.4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505A7-0702-47B8-8CD5-1C06465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SUPPLY CHAIN NETWORK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4D209-1208-4B4C-AED1-C22B9DD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13D"/>
                </a:solidFill>
              </a:defRPr>
            </a:pPr>
            <a:r>
              <a:rPr sz="3750" b="1">
                <a:solidFill>
                  <a:srgbClr val="14213D"/>
                </a:solidFill>
              </a:rPr>
              <a:t>A lower-cost network that remains defensible under stress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2D7D6-1A94-4408-900E-CEE0C6AE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</a:defRPr>
            </a:pPr>
            <a:r>
              <a:rPr sz="1575">
                <a:solidFill>
                  <a:srgbClr val="526173"/>
                </a:solidFill>
              </a:rPr>
              <a:t>65-node facility-location case | PuLP MILP | real shipment calibration | decision evidence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54d764bb244f7"/>
          <a:stretch xmlns:a="http://schemas.openxmlformats.org/drawingml/2006/main"/>
        </p:blipFill>
        <p:spPr>
          <a:xfrm xmlns:a="http://schemas.openxmlformats.org/drawingml/2006/main">
            <a:off x="6572250" y="1418359"/>
            <a:ext cx="4953000" cy="360218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1206D-0DC3-4D23-A917-BD670BCE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Decision case • modeled network economics, explicitly separated from realized savings</a:t>
            </a:r>
          </a:p>
        </p:txBody>
      </p:sp>
    </p:spTree>
    <p:extLst>
      <p:ext uri="{BB962C8B-B14F-4D97-AF65-F5344CB8AC3E}">
        <p14:creationId xmlns:p14="http://schemas.microsoft.com/office/powerpoint/2010/main" val="16930297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FE5C1-42D3-4500-A6CB-523FDDED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DECISION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121F6-DB71-4B5C-ADFF-C6E7BD9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decision is where to open capacity without sacrificing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E1416-069D-4D7B-AC06-6EE01B9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1B014-3504-4432-BE4E-E06325E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7D92"/>
                </a:solidFill>
              </a:defRPr>
            </a:pPr>
            <a:r>
              <a:rPr sz="4650" b="1">
                <a:solidFill>
                  <a:srgbClr val="147D92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7262D-B618-4B29-9E8B-51E1DFCF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network nodes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1BD27-BE23-4FB3-9F35-D8D5B8B0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7D92"/>
                </a:solidFill>
              </a:defRPr>
            </a:pPr>
            <a:r>
              <a:rPr sz="4650" b="1">
                <a:solidFill>
                  <a:srgbClr val="147D92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6AF8-DB3D-4B5C-B510-6661AB04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candidate warehouses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EFF5D-CF6D-458E-8B3B-1A65ECC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7D92"/>
                </a:solidFill>
              </a:defRPr>
            </a:pPr>
            <a:r>
              <a:rPr sz="4650" b="1">
                <a:solidFill>
                  <a:srgbClr val="147D92"/>
                </a:solidFill>
              </a:rPr>
              <a:t>2,500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C8555-170C-454B-86F3-1545B88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continuous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19F98-189B-4477-873E-74EB619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52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• Objective: fixed facility cost + transport cost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• Constraints: capacity, demand coverage and service radius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• Decision controls: demand, carbon and freight stress scenarios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EC060-F665-4F52-B6CA-9E13B15B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Model outputs are planning evidence; implementation still requires site, contract and lane validation</a:t>
            </a:r>
          </a:p>
        </p:txBody>
      </p:sp>
    </p:spTree>
    <p:extLst>
      <p:ext uri="{BB962C8B-B14F-4D97-AF65-F5344CB8AC3E}">
        <p14:creationId xmlns:p14="http://schemas.microsoft.com/office/powerpoint/2010/main" val="16783808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0D04B-679A-4265-8D77-4BD6823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ECONOMIC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8A929-3BCA-4F94-8DBB-D5CBD18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optimized network outperforms three operating heuristics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AC26C-7608-49BB-96B7-C93605C2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81a44c0cce4c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6C428-590C-4893-AAEE-9E28B157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7D92"/>
                </a:solidFill>
              </a:defRPr>
            </a:pPr>
            <a:r>
              <a:rPr sz="4050" b="1">
                <a:solidFill>
                  <a:srgbClr val="147D92"/>
                </a:solidFill>
              </a:rPr>
              <a:t>20.60%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D90C3-4C93-495A-A388-0750AE4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lower modeled cost</a:t>
            </a:r>
          </a:p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than greedy assignment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068E4-8815-4C45-9898-0AFB5C02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19.00% vs open-all</a:t>
            </a:r>
          </a:p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14.34% vs k-means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E9BF6-51B2-4A7A-BE86-15287D2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Cost index normalized to greedy = 100; differences are model outputs, not realized savings</a:t>
            </a:r>
          </a:p>
        </p:txBody>
      </p:sp>
    </p:spTree>
    <p:extLst>
      <p:ext uri="{BB962C8B-B14F-4D97-AF65-F5344CB8AC3E}">
        <p14:creationId xmlns:p14="http://schemas.microsoft.com/office/powerpoint/2010/main" val="16467058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EA81D-16D6-4DC0-9BE6-4A6F3119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STRESS AND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6920F-05F2-4ECA-8DA9-324B585E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Four sites stay robust; two require staged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2A418-4FB0-4835-9F91-C0B86FE2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3f57171544885"/>
          <a:stretch xmlns:a="http://schemas.openxmlformats.org/drawingml/2006/main"/>
        </p:blipFill>
        <p:spPr>
          <a:xfrm xmlns:a="http://schemas.openxmlformats.org/drawingml/2006/main">
            <a:off x="1023938" y="1809750"/>
            <a:ext cx="5857875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59497-B287-47F5-9C98-BF57CE93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Demand, capacity, service-radius and carbon shocks are evaluated separately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10,324 USAID shipments calibrate lead-time and freight priors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Four robust warehouses anchor rollout; two marginal sites remain contingent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00081-3A9E-4E66-B904-EAB8245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12B"/>
                </a:solidFill>
              </a:defRPr>
            </a:pPr>
            <a:r>
              <a:rPr sz="1350" b="1">
                <a:solidFill>
                  <a:srgbClr val="E0A12B"/>
                </a:solidFill>
              </a:rPr>
              <a:t>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46CC5-EE55-4DC4-A181-E07728B8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625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Commit robust capacity first; gate marginal sites on volume and service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EEEE5-8567-4D2F-8CEC-6560FB36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Real shipment data calibrates priors; the 65-node facility network remains modeled</a:t>
            </a:r>
          </a:p>
        </p:txBody>
      </p:sp>
    </p:spTree>
    <p:extLst>
      <p:ext uri="{BB962C8B-B14F-4D97-AF65-F5344CB8AC3E}">
        <p14:creationId xmlns:p14="http://schemas.microsoft.com/office/powerpoint/2010/main" val="1873129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238B3-0280-47F1-BD34-D862BD13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MANAGEMENT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35918-C290-42C6-AC38-ECDC94A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copilot explains decisions; it does not replace the optimizer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57014-3EF6-4C9A-B308-7AD4BCF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0cd9b24ef43db"/>
          <a:stretch xmlns:a="http://schemas.openxmlformats.org/drawingml/2006/main"/>
        </p:blipFill>
        <p:spPr>
          <a:xfrm xmlns:a="http://schemas.openxmlformats.org/drawingml/2006/main">
            <a:off x="666750" y="1821656"/>
            <a:ext cx="5905500" cy="36909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563D0-B1BB-420E-9EA1-B75F8825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00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Retrieves model assumptions, policy notes, sensitivity tables and prior scenarios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Cites evidence used in each executive memo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Separates optimizer outputs from narrative interpretation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Retrieval questions are benchmarked before recommendation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17697-6DE6-4933-923C-FB9284A8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00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92"/>
                </a:solidFill>
              </a:defRPr>
            </a:pPr>
            <a:r>
              <a:rPr sz="1350" b="1">
                <a:solidFill>
                  <a:srgbClr val="147D92"/>
                </a:solidFill>
              </a:rPr>
              <a:t>Operating 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DEB4D-ECC6-4201-A541-814668A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Optimize first. Retrieve evidence second. Keep human approval at the decision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940DF-1A2D-4128-B8D9-F2141C9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Hybrid retrieval supports auditability; warehouse choices remain MILP outputs</a:t>
            </a:r>
          </a:p>
        </p:txBody>
      </p:sp>
    </p:spTree>
    <p:extLst>
      <p:ext uri="{BB962C8B-B14F-4D97-AF65-F5344CB8AC3E}">
        <p14:creationId xmlns:p14="http://schemas.microsoft.com/office/powerpoint/2010/main" val="1934248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8A3C8-5F6C-4D07-824B-AD4024B8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05D32-0332-4CFE-B69A-C5EA660D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Proceed in stages, with evidence gates before capital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2DB3D-7CD7-4437-963D-930BA2D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34A73-1A27-49A2-907E-AAAC7BB1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7D92"/>
                </a:solidFill>
              </a:defRPr>
            </a:pPr>
            <a:r>
              <a:rPr sz="3150" b="1">
                <a:solidFill>
                  <a:srgbClr val="147D92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CD79-D47B-4FD0-B293-17D8D9EF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991D1-6E26-4C25-A212-5FB0D780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73"/>
                </a:solidFill>
              </a:defRPr>
            </a:pPr>
            <a:r>
              <a:rPr sz="1350">
                <a:solidFill>
                  <a:srgbClr val="526173"/>
                </a:solidFill>
              </a:rPr>
              <a:t>Confirm lane rates, service targets, site feasibility and demand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466C8-EE87-4297-8697-6B2299EC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7D92"/>
                </a:solidFill>
              </a:defRPr>
            </a:pPr>
            <a:r>
              <a:rPr sz="3150" b="1">
                <a:solidFill>
                  <a:srgbClr val="147D92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55E24-3366-43F4-AE34-72D27C75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43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3D1A-1ACD-4920-BECC-487D55B3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73"/>
                </a:solidFill>
              </a:defRPr>
            </a:pPr>
            <a:r>
              <a:rPr sz="1350">
                <a:solidFill>
                  <a:srgbClr val="526173"/>
                </a:solidFill>
              </a:rPr>
              <a:t>Open robust sites first and measure OTDR, utilization, cost-to-serve and emissions.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BCB3B-CC3C-407F-8E5C-325C4FC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7D92"/>
                </a:solidFill>
              </a:defRPr>
            </a:pPr>
            <a:r>
              <a:rPr sz="3150" b="1">
                <a:solidFill>
                  <a:srgbClr val="147D92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B2984-982F-494E-B4B7-6301A15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EE7AC-0754-483C-97B7-EB03DFF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73"/>
                </a:solidFill>
              </a:defRPr>
            </a:pPr>
            <a:r>
              <a:rPr sz="1350">
                <a:solidFill>
                  <a:srgbClr val="526173"/>
                </a:solidFill>
              </a:rPr>
              <a:t>Approve marginal sites only when volume, service and payback thresholds are met.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B07EF-944B-4F33-B5B8-B1E6119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0A12B"/>
                </a:solidFill>
              </a:defRPr>
            </a:pPr>
            <a:r>
              <a:rPr sz="1425" b="1">
                <a:solidFill>
                  <a:srgbClr val="E0A12B"/>
                </a:solidFill>
              </a:rPr>
              <a:t>Decision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7956B-D873-44D9-B968-73BAE98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Demand confidence • site feasibility • contract rates • service compliance • payback under stress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5A2F6-52EB-44A1-822D-3E9E5A2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Recommended next action: validate assumptions with operators before treating modeled savings as realizable</a:t>
            </a:r>
          </a:p>
        </p:txBody>
      </p:sp>
    </p:spTree>
    <p:extLst>
      <p:ext uri="{BB962C8B-B14F-4D97-AF65-F5344CB8AC3E}">
        <p14:creationId xmlns:p14="http://schemas.microsoft.com/office/powerpoint/2010/main" val="1986460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2026-08-18T01:03:54.9920000Z</dcterms:created>
  <dcterms:modified xsi:type="dcterms:W3CDTF">2026-08-18T01:03:54.9920000Z</dcterms:modified>
</coreProperties>
</file>